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5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91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9.pn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9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47.svg"/><Relationship Id="rId5" Type="http://schemas.openxmlformats.org/officeDocument/2006/relationships/image" Target="../media/image43.sv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498025" y="287304"/>
            <a:ext cx="4067983" cy="45194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10800000">
            <a:off x="4498025" y="287304"/>
            <a:ext cx="4067983" cy="4519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951" y="290231"/>
            <a:ext cx="4067983" cy="45194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951" y="290231"/>
            <a:ext cx="4067983" cy="4519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1245" y="290231"/>
            <a:ext cx="1291590" cy="8915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01245" y="290231"/>
            <a:ext cx="129159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9951" y="3914455"/>
            <a:ext cx="1290858" cy="8922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29951" y="3914455"/>
            <a:ext cx="1290858" cy="89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1445301" y="1247333"/>
            <a:ext cx="6253307" cy="1766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9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RAG Legal Compliance System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1607607" y="3014137"/>
            <a:ext cx="5928878" cy="3924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Compliance Review Using Azure OpenAI and Cognitive Search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8848" y="1036107"/>
            <a:ext cx="7300478" cy="69412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Automates compliance review of legal MOUs using Azure OpenAI and Cognitive Search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7523" y="2040209"/>
            <a:ext cx="1135776" cy="3021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57523" y="2040209"/>
            <a:ext cx="1135776" cy="302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251606" y="1775948"/>
            <a:ext cx="830550" cy="830550"/>
          </a:xfrm>
          <a:custGeom>
            <a:avLst/>
            <a:gdLst/>
            <a:ahLst/>
            <a:cxnLst/>
            <a:rect l="l" t="t" r="r" b="b"/>
            <a:pathLst>
              <a:path w="830550" h="830550">
                <a:moveTo>
                  <a:pt x="415275" y="0"/>
                </a:moveTo>
                <a:cubicBezTo>
                  <a:pt x="644471" y="0"/>
                  <a:pt x="830550" y="186078"/>
                  <a:pt x="830550" y="415275"/>
                </a:cubicBezTo>
                <a:cubicBezTo>
                  <a:pt x="830550" y="644471"/>
                  <a:pt x="644471" y="830550"/>
                  <a:pt x="415275" y="830550"/>
                </a:cubicBezTo>
                <a:cubicBezTo>
                  <a:pt x="186078" y="830550"/>
                  <a:pt x="0" y="644471"/>
                  <a:pt x="0" y="415275"/>
                </a:cubicBezTo>
                <a:cubicBezTo>
                  <a:pt x="0" y="186078"/>
                  <a:pt x="186078" y="0"/>
                  <a:pt x="415275" y="0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251606" y="1775948"/>
            <a:ext cx="830550" cy="83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376148" y="1900580"/>
            <a:ext cx="581376" cy="581376"/>
          </a:xfrm>
          <a:custGeom>
            <a:avLst/>
            <a:gdLst/>
            <a:ahLst/>
            <a:cxnLst/>
            <a:rect l="l" t="t" r="r" b="b"/>
            <a:pathLst>
              <a:path w="581376" h="581376">
                <a:moveTo>
                  <a:pt x="290688" y="0"/>
                </a:moveTo>
                <a:cubicBezTo>
                  <a:pt x="451123" y="0"/>
                  <a:pt x="581376" y="130253"/>
                  <a:pt x="581376" y="290688"/>
                </a:cubicBezTo>
                <a:cubicBezTo>
                  <a:pt x="581376" y="451123"/>
                  <a:pt x="451123" y="581376"/>
                  <a:pt x="290688" y="581376"/>
                </a:cubicBezTo>
                <a:cubicBezTo>
                  <a:pt x="130253" y="581376"/>
                  <a:pt x="0" y="451123"/>
                  <a:pt x="0" y="290688"/>
                </a:cubicBezTo>
                <a:cubicBezTo>
                  <a:pt x="0" y="130253"/>
                  <a:pt x="130253" y="0"/>
                  <a:pt x="290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50800" dir="2700000" algn="bl" rotWithShape="0">
              <a:srgbClr val="3D3D3D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376148" y="1900580"/>
            <a:ext cx="581376" cy="58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974062" y="1775948"/>
            <a:ext cx="830550" cy="830550"/>
          </a:xfrm>
          <a:custGeom>
            <a:avLst/>
            <a:gdLst/>
            <a:ahLst/>
            <a:cxnLst/>
            <a:rect l="l" t="t" r="r" b="b"/>
            <a:pathLst>
              <a:path w="830550" h="830550">
                <a:moveTo>
                  <a:pt x="415275" y="0"/>
                </a:moveTo>
                <a:cubicBezTo>
                  <a:pt x="644471" y="0"/>
                  <a:pt x="830550" y="186078"/>
                  <a:pt x="830550" y="415275"/>
                </a:cubicBezTo>
                <a:cubicBezTo>
                  <a:pt x="830550" y="644471"/>
                  <a:pt x="644471" y="830550"/>
                  <a:pt x="415275" y="830550"/>
                </a:cubicBezTo>
                <a:cubicBezTo>
                  <a:pt x="186078" y="830550"/>
                  <a:pt x="0" y="644471"/>
                  <a:pt x="0" y="415275"/>
                </a:cubicBezTo>
                <a:cubicBezTo>
                  <a:pt x="0" y="186078"/>
                  <a:pt x="186078" y="0"/>
                  <a:pt x="415275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974062" y="1775948"/>
            <a:ext cx="830550" cy="83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98694" y="1900580"/>
            <a:ext cx="581376" cy="581376"/>
          </a:xfrm>
          <a:custGeom>
            <a:avLst/>
            <a:gdLst/>
            <a:ahLst/>
            <a:cxnLst/>
            <a:rect l="l" t="t" r="r" b="b"/>
            <a:pathLst>
              <a:path w="581376" h="581376">
                <a:moveTo>
                  <a:pt x="290688" y="0"/>
                </a:moveTo>
                <a:cubicBezTo>
                  <a:pt x="451123" y="0"/>
                  <a:pt x="581376" y="130253"/>
                  <a:pt x="581376" y="290688"/>
                </a:cubicBezTo>
                <a:cubicBezTo>
                  <a:pt x="581376" y="451123"/>
                  <a:pt x="451123" y="581376"/>
                  <a:pt x="290688" y="581376"/>
                </a:cubicBezTo>
                <a:cubicBezTo>
                  <a:pt x="130253" y="581376"/>
                  <a:pt x="0" y="451123"/>
                  <a:pt x="0" y="290688"/>
                </a:cubicBezTo>
                <a:cubicBezTo>
                  <a:pt x="0" y="130253"/>
                  <a:pt x="130253" y="0"/>
                  <a:pt x="290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50800" dir="2700000" algn="bl" rotWithShape="0">
              <a:srgbClr val="515151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98694" y="1900580"/>
            <a:ext cx="581376" cy="58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837932" y="2951592"/>
            <a:ext cx="1570482" cy="14029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ingestion, extraction, rule retrieval, and validation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02267" y="2951592"/>
            <a:ext cx="1570482" cy="14029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queries about compliance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2824764" y="2596987"/>
            <a:ext cx="1596908" cy="3390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97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system with agents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589008" y="2596987"/>
            <a:ext cx="1596908" cy="3390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97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Includes optional interactive chat-bot</a:t>
            </a:r>
            <a:endParaRPr lang="en-US" sz="15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450854" y="1981871"/>
            <a:ext cx="431963" cy="431963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73401" y="1981871"/>
            <a:ext cx="431963" cy="431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&amp; Index Setup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7360" y="2164659"/>
            <a:ext cx="3314060" cy="1831269"/>
          </a:xfrm>
          <a:custGeom>
            <a:avLst/>
            <a:gdLst/>
            <a:ahLst/>
            <a:cxnLst/>
            <a:rect l="l" t="t" r="r" b="b"/>
            <a:pathLst>
              <a:path w="3314060" h="1831269">
                <a:moveTo>
                  <a:pt x="0" y="1831269"/>
                </a:moveTo>
                <a:lnTo>
                  <a:pt x="3314060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147286" y="3304002"/>
            <a:ext cx="799368" cy="0"/>
          </a:xfrm>
          <a:custGeom>
            <a:avLst/>
            <a:gdLst/>
            <a:ahLst/>
            <a:cxnLst/>
            <a:rect l="l" t="t" r="r" b="b"/>
            <a:pathLst>
              <a:path w="799368">
                <a:moveTo>
                  <a:pt x="0" y="0"/>
                </a:moveTo>
                <a:lnTo>
                  <a:pt x="799368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46504" y="3991082"/>
            <a:ext cx="1745132" cy="0"/>
          </a:xfrm>
          <a:custGeom>
            <a:avLst/>
            <a:gdLst/>
            <a:ahLst/>
            <a:cxnLst/>
            <a:rect l="l" t="t" r="r" b="b"/>
            <a:pathLst>
              <a:path w="1745132">
                <a:moveTo>
                  <a:pt x="0" y="0"/>
                </a:moveTo>
                <a:lnTo>
                  <a:pt x="1745132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98453" y="2718786"/>
            <a:ext cx="1600749" cy="0"/>
          </a:xfrm>
          <a:custGeom>
            <a:avLst/>
            <a:gdLst/>
            <a:ahLst/>
            <a:cxnLst/>
            <a:rect l="l" t="t" r="r" b="b"/>
            <a:pathLst>
              <a:path w="1600749">
                <a:moveTo>
                  <a:pt x="0" y="0"/>
                </a:moveTo>
                <a:lnTo>
                  <a:pt x="1600749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426555" y="3673602"/>
            <a:ext cx="634868" cy="634868"/>
          </a:xfrm>
          <a:custGeom>
            <a:avLst/>
            <a:gdLst/>
            <a:ahLst/>
            <a:cxnLst/>
            <a:rect l="l" t="t" r="r" b="b"/>
            <a:pathLst>
              <a:path w="634868" h="634868">
                <a:moveTo>
                  <a:pt x="317434" y="0"/>
                </a:moveTo>
                <a:cubicBezTo>
                  <a:pt x="492631" y="0"/>
                  <a:pt x="634868" y="142237"/>
                  <a:pt x="634868" y="317434"/>
                </a:cubicBezTo>
                <a:cubicBezTo>
                  <a:pt x="634868" y="492631"/>
                  <a:pt x="492631" y="634868"/>
                  <a:pt x="317434" y="634868"/>
                </a:cubicBezTo>
                <a:cubicBezTo>
                  <a:pt x="142237" y="634868"/>
                  <a:pt x="0" y="492631"/>
                  <a:pt x="0" y="317434"/>
                </a:cubicBezTo>
                <a:cubicBezTo>
                  <a:pt x="0" y="142237"/>
                  <a:pt x="142237" y="0"/>
                  <a:pt x="317434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26555" y="3673602"/>
            <a:ext cx="634868" cy="6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651486" y="2951683"/>
            <a:ext cx="634868" cy="634868"/>
          </a:xfrm>
          <a:custGeom>
            <a:avLst/>
            <a:gdLst/>
            <a:ahLst/>
            <a:cxnLst/>
            <a:rect l="l" t="t" r="r" b="b"/>
            <a:pathLst>
              <a:path w="634868" h="634868">
                <a:moveTo>
                  <a:pt x="317434" y="0"/>
                </a:moveTo>
                <a:cubicBezTo>
                  <a:pt x="492631" y="0"/>
                  <a:pt x="634868" y="142237"/>
                  <a:pt x="634868" y="317434"/>
                </a:cubicBezTo>
                <a:cubicBezTo>
                  <a:pt x="634868" y="492631"/>
                  <a:pt x="492631" y="634868"/>
                  <a:pt x="317434" y="634868"/>
                </a:cubicBezTo>
                <a:cubicBezTo>
                  <a:pt x="142237" y="634868"/>
                  <a:pt x="0" y="492631"/>
                  <a:pt x="0" y="317434"/>
                </a:cubicBezTo>
                <a:cubicBezTo>
                  <a:pt x="0" y="142237"/>
                  <a:pt x="142237" y="0"/>
                  <a:pt x="317434" y="0"/>
                </a:cubic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666666"/>
              </a:gs>
            </a:gsLst>
            <a:lin ang="9600000" scaled="1"/>
          </a:gradFill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51486" y="2951683"/>
            <a:ext cx="634868" cy="6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33333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37849" y="2321113"/>
            <a:ext cx="634868" cy="634868"/>
          </a:xfrm>
          <a:custGeom>
            <a:avLst/>
            <a:gdLst/>
            <a:ahLst/>
            <a:cxnLst/>
            <a:rect l="l" t="t" r="r" b="b"/>
            <a:pathLst>
              <a:path w="634868" h="634868">
                <a:moveTo>
                  <a:pt x="317434" y="0"/>
                </a:moveTo>
                <a:cubicBezTo>
                  <a:pt x="492631" y="0"/>
                  <a:pt x="634868" y="142237"/>
                  <a:pt x="634868" y="317434"/>
                </a:cubicBezTo>
                <a:cubicBezTo>
                  <a:pt x="634868" y="492631"/>
                  <a:pt x="492631" y="634868"/>
                  <a:pt x="317434" y="634868"/>
                </a:cubicBezTo>
                <a:cubicBezTo>
                  <a:pt x="142237" y="634868"/>
                  <a:pt x="0" y="492631"/>
                  <a:pt x="0" y="317434"/>
                </a:cubicBezTo>
                <a:cubicBezTo>
                  <a:pt x="0" y="142237"/>
                  <a:pt x="142237" y="0"/>
                  <a:pt x="317434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37849" y="2321113"/>
            <a:ext cx="634868" cy="6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147286" y="2951683"/>
            <a:ext cx="0" cy="352318"/>
          </a:xfrm>
          <a:custGeom>
            <a:avLst/>
            <a:gdLst/>
            <a:ahLst/>
            <a:cxnLst/>
            <a:rect l="l" t="t" r="r" b="b"/>
            <a:pathLst>
              <a:path h="352318">
                <a:moveTo>
                  <a:pt x="0" y="0"/>
                </a:moveTo>
                <a:lnTo>
                  <a:pt x="0" y="352318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77747" y="1673809"/>
            <a:ext cx="1936425" cy="117463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rules stored as txt files in Azure Blob Storage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555712" y="2547061"/>
            <a:ext cx="2422428" cy="97374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Azure Cognitive Search index created with id and content fields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564788" y="3809939"/>
            <a:ext cx="2869387" cy="7069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rules stored as txt files in Azure Blob Storage</a:t>
            </a:r>
            <a:endParaRPr lang="en-US" sz="15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900000">
            <a:off x="5060381" y="922630"/>
            <a:ext cx="1298265" cy="15733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Architecture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47306" y="1748607"/>
            <a:ext cx="2013143" cy="2322850"/>
          </a:xfrm>
          <a:custGeom>
            <a:avLst/>
            <a:gdLst/>
            <a:ahLst/>
            <a:cxnLst/>
            <a:rect l="l" t="t" r="r" b="b"/>
            <a:pathLst>
              <a:path w="2013143" h="2322850">
                <a:moveTo>
                  <a:pt x="251643" y="0"/>
                </a:moveTo>
                <a:lnTo>
                  <a:pt x="1761500" y="0"/>
                </a:lnTo>
                <a:quadBezTo>
                  <a:pt x="2013143" y="0"/>
                  <a:pt x="2013143" y="251643"/>
                </a:quadBezTo>
                <a:lnTo>
                  <a:pt x="2013143" y="2071207"/>
                </a:lnTo>
                <a:quadBezTo>
                  <a:pt x="2013143" y="2322850"/>
                  <a:pt x="1761500" y="2322850"/>
                </a:quadBezTo>
                <a:lnTo>
                  <a:pt x="251643" y="2322850"/>
                </a:lnTo>
                <a:quadBezTo>
                  <a:pt x="0" y="2322850"/>
                  <a:pt x="0" y="2071207"/>
                </a:quadBezTo>
                <a:lnTo>
                  <a:pt x="0" y="251643"/>
                </a:lnTo>
                <a:quadBezTo>
                  <a:pt x="0" y="0"/>
                  <a:pt x="251643" y="0"/>
                </a:quadBezTo>
                <a:close/>
              </a:path>
            </a:pathLst>
          </a:cu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47306" y="1748607"/>
            <a:ext cx="2013143" cy="2322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616921" y="1407902"/>
            <a:ext cx="674004" cy="674004"/>
          </a:xfrm>
          <a:custGeom>
            <a:avLst/>
            <a:gdLst/>
            <a:ahLst/>
            <a:cxnLst/>
            <a:rect l="l" t="t" r="r" b="b"/>
            <a:pathLst>
              <a:path w="674004" h="674004">
                <a:moveTo>
                  <a:pt x="337002" y="0"/>
                </a:moveTo>
                <a:cubicBezTo>
                  <a:pt x="522999" y="0"/>
                  <a:pt x="674004" y="151006"/>
                  <a:pt x="674004" y="337002"/>
                </a:cubicBezTo>
                <a:cubicBezTo>
                  <a:pt x="674004" y="522999"/>
                  <a:pt x="522999" y="674004"/>
                  <a:pt x="337002" y="674004"/>
                </a:cubicBezTo>
                <a:cubicBezTo>
                  <a:pt x="151006" y="674004"/>
                  <a:pt x="0" y="522999"/>
                  <a:pt x="0" y="337002"/>
                </a:cubicBezTo>
                <a:cubicBezTo>
                  <a:pt x="0" y="151006"/>
                  <a:pt x="151006" y="0"/>
                  <a:pt x="337002" y="0"/>
                </a:cubic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3D3D3D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16921" y="1407902"/>
            <a:ext cx="674004" cy="674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202296" y="1748607"/>
            <a:ext cx="2013143" cy="2322850"/>
          </a:xfrm>
          <a:custGeom>
            <a:avLst/>
            <a:gdLst/>
            <a:ahLst/>
            <a:cxnLst/>
            <a:rect l="l" t="t" r="r" b="b"/>
            <a:pathLst>
              <a:path w="2013143" h="2322850">
                <a:moveTo>
                  <a:pt x="251643" y="0"/>
                </a:moveTo>
                <a:lnTo>
                  <a:pt x="1761500" y="0"/>
                </a:lnTo>
                <a:quadBezTo>
                  <a:pt x="2013143" y="0"/>
                  <a:pt x="2013143" y="251643"/>
                </a:quadBezTo>
                <a:lnTo>
                  <a:pt x="2013143" y="2071207"/>
                </a:lnTo>
                <a:quadBezTo>
                  <a:pt x="2013143" y="2322850"/>
                  <a:pt x="1761500" y="2322850"/>
                </a:quadBezTo>
                <a:lnTo>
                  <a:pt x="251643" y="2322850"/>
                </a:lnTo>
                <a:quadBezTo>
                  <a:pt x="0" y="2322850"/>
                  <a:pt x="0" y="2071207"/>
                </a:quadBezTo>
                <a:lnTo>
                  <a:pt x="0" y="251643"/>
                </a:lnTo>
                <a:quadBezTo>
                  <a:pt x="0" y="0"/>
                  <a:pt x="251643" y="0"/>
                </a:quadBezTo>
                <a:close/>
              </a:path>
            </a:pathLst>
          </a:cu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02296" y="1748607"/>
            <a:ext cx="2013143" cy="2322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10224" y="1407902"/>
            <a:ext cx="674004" cy="674004"/>
          </a:xfrm>
          <a:custGeom>
            <a:avLst/>
            <a:gdLst/>
            <a:ahLst/>
            <a:cxnLst/>
            <a:rect l="l" t="t" r="r" b="b"/>
            <a:pathLst>
              <a:path w="674004" h="674004">
                <a:moveTo>
                  <a:pt x="337002" y="0"/>
                </a:moveTo>
                <a:cubicBezTo>
                  <a:pt x="522999" y="0"/>
                  <a:pt x="674004" y="151006"/>
                  <a:pt x="674004" y="337002"/>
                </a:cubicBezTo>
                <a:cubicBezTo>
                  <a:pt x="674004" y="522999"/>
                  <a:pt x="522999" y="674004"/>
                  <a:pt x="337002" y="674004"/>
                </a:cubicBezTo>
                <a:cubicBezTo>
                  <a:pt x="151006" y="674004"/>
                  <a:pt x="0" y="522999"/>
                  <a:pt x="0" y="337002"/>
                </a:cubicBezTo>
                <a:cubicBezTo>
                  <a:pt x="0" y="151006"/>
                  <a:pt x="151006" y="0"/>
                  <a:pt x="337002" y="0"/>
                </a:cubic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3D3D3D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10224" y="1407902"/>
            <a:ext cx="674004" cy="674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082455" y="2457633"/>
            <a:ext cx="1740286" cy="14336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ingestion, clause extraction, rule retrieval, and compliance validation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37649" y="2072122"/>
            <a:ext cx="1832640" cy="3390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97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agents handle different functions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72374" y="2457633"/>
            <a:ext cx="1740286" cy="14336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modular, scalable, and traceable processing of MOUs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26654" y="2072122"/>
            <a:ext cx="1832640" cy="3390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3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737896" y="1528877"/>
            <a:ext cx="431963" cy="431963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031200" y="1528877"/>
            <a:ext cx="431963" cy="431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E0F2AAB3-6C32-38B3-8EE6-36702871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293236" y="159106"/>
            <a:ext cx="6557437" cy="5695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Embedding &amp; RAG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42165" y="1925909"/>
            <a:ext cx="5026640" cy="714969"/>
          </a:xfrm>
          <a:custGeom>
            <a:avLst/>
            <a:gdLst/>
            <a:ahLst/>
            <a:cxnLst/>
            <a:rect l="l" t="t" r="r" b="b"/>
            <a:pathLst>
              <a:path w="5026640" h="714969">
                <a:moveTo>
                  <a:pt x="0" y="0"/>
                </a:moveTo>
                <a:lnTo>
                  <a:pt x="5026640" y="0"/>
                </a:lnTo>
                <a:lnTo>
                  <a:pt x="5026640" y="714969"/>
                </a:lnTo>
                <a:lnTo>
                  <a:pt x="0" y="714969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42165" y="1925909"/>
            <a:ext cx="5026640" cy="714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142165" y="1619860"/>
            <a:ext cx="5026640" cy="985632"/>
          </a:xfrm>
          <a:custGeom>
            <a:avLst/>
            <a:gdLst/>
            <a:ahLst/>
            <a:cxnLst/>
            <a:rect l="l" t="t" r="r" b="b"/>
            <a:pathLst>
              <a:path w="5026640" h="985632">
                <a:moveTo>
                  <a:pt x="0" y="0"/>
                </a:moveTo>
                <a:lnTo>
                  <a:pt x="5026640" y="0"/>
                </a:lnTo>
                <a:lnTo>
                  <a:pt x="5026640" y="985632"/>
                </a:lnTo>
                <a:lnTo>
                  <a:pt x="0" y="985632"/>
                </a:lnTo>
                <a:close/>
              </a:path>
            </a:pathLst>
          </a:custGeom>
          <a:solidFill>
            <a:srgbClr val="F5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42165" y="1619860"/>
            <a:ext cx="5026640" cy="98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9074" y="1619860"/>
            <a:ext cx="1409822" cy="9856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59074" y="1619860"/>
            <a:ext cx="1409822" cy="98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75195" y="1941911"/>
            <a:ext cx="355336" cy="3415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75195" y="1941911"/>
            <a:ext cx="355336" cy="341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330440" y="1640616"/>
            <a:ext cx="3284982" cy="85222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improves accuracy by retrieving relevant rules dynamically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2142165" y="3132460"/>
            <a:ext cx="5026640" cy="714969"/>
          </a:xfrm>
          <a:custGeom>
            <a:avLst/>
            <a:gdLst/>
            <a:ahLst/>
            <a:cxnLst/>
            <a:rect l="l" t="t" r="r" b="b"/>
            <a:pathLst>
              <a:path w="5026640" h="714969">
                <a:moveTo>
                  <a:pt x="0" y="0"/>
                </a:moveTo>
                <a:lnTo>
                  <a:pt x="5026640" y="0"/>
                </a:lnTo>
                <a:lnTo>
                  <a:pt x="5026640" y="714969"/>
                </a:lnTo>
                <a:lnTo>
                  <a:pt x="0" y="714969"/>
                </a:ln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2142165" y="3132460"/>
            <a:ext cx="5026640" cy="714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2142165" y="2826502"/>
            <a:ext cx="5026640" cy="985632"/>
          </a:xfrm>
          <a:custGeom>
            <a:avLst/>
            <a:gdLst/>
            <a:ahLst/>
            <a:cxnLst/>
            <a:rect l="l" t="t" r="r" b="b"/>
            <a:pathLst>
              <a:path w="5026640" h="985632">
                <a:moveTo>
                  <a:pt x="0" y="0"/>
                </a:moveTo>
                <a:lnTo>
                  <a:pt x="5026640" y="0"/>
                </a:lnTo>
                <a:lnTo>
                  <a:pt x="5026640" y="985632"/>
                </a:lnTo>
                <a:lnTo>
                  <a:pt x="0" y="985632"/>
                </a:lnTo>
                <a:close/>
              </a:path>
            </a:pathLst>
          </a:custGeom>
          <a:solidFill>
            <a:srgbClr val="F5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2142165" y="2826502"/>
            <a:ext cx="5026640" cy="98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59074" y="2826502"/>
            <a:ext cx="1409822" cy="9856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59074" y="2826502"/>
            <a:ext cx="1409822" cy="98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5195" y="3148554"/>
            <a:ext cx="355336" cy="3415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75195" y="3148554"/>
            <a:ext cx="355336" cy="341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2330440" y="2828879"/>
            <a:ext cx="3284982" cy="85222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Guides OpenAI validation using retrieved rules for up-to-date compliance checks</a:t>
            </a:r>
            <a:endParaRPr lang="en-US" sz="15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378672" y="1857329"/>
            <a:ext cx="589148" cy="589148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6378672" y="3057845"/>
            <a:ext cx="589148" cy="589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Bot Layer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8354" y="2560411"/>
            <a:ext cx="1814261" cy="3464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48354" y="2560411"/>
            <a:ext cx="1814261" cy="346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1085" y="2560411"/>
            <a:ext cx="1814261" cy="3464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41085" y="2560411"/>
            <a:ext cx="1814261" cy="346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5866" y="2561417"/>
            <a:ext cx="1814261" cy="3464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85866" y="2561417"/>
            <a:ext cx="1814261" cy="346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48354" y="2203430"/>
            <a:ext cx="1666311" cy="34646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48354" y="2203430"/>
            <a:ext cx="1666311" cy="346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2469886" y="3089940"/>
            <a:ext cx="0" cy="489387"/>
          </a:xfrm>
          <a:custGeom>
            <a:avLst/>
            <a:gdLst/>
            <a:ahLst/>
            <a:cxnLst/>
            <a:rect l="l" t="t" r="r" b="b"/>
            <a:pathLst>
              <a:path h="489387">
                <a:moveTo>
                  <a:pt x="0" y="0"/>
                </a:moveTo>
                <a:lnTo>
                  <a:pt x="0" y="489387"/>
                </a:lnTo>
              </a:path>
            </a:pathLst>
          </a:custGeom>
          <a:noFill/>
          <a:ln w="21431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6684538" y="3119476"/>
            <a:ext cx="0" cy="489387"/>
          </a:xfrm>
          <a:custGeom>
            <a:avLst/>
            <a:gdLst/>
            <a:ahLst/>
            <a:cxnLst/>
            <a:rect l="l" t="t" r="r" b="b"/>
            <a:pathLst>
              <a:path h="489387">
                <a:moveTo>
                  <a:pt x="0" y="0"/>
                </a:moveTo>
                <a:lnTo>
                  <a:pt x="0" y="489387"/>
                </a:lnTo>
              </a:path>
            </a:pathLst>
          </a:custGeom>
          <a:noFill/>
          <a:ln w="21431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4644238" y="1907347"/>
            <a:ext cx="0" cy="489387"/>
          </a:xfrm>
          <a:custGeom>
            <a:avLst/>
            <a:gdLst/>
            <a:ahLst/>
            <a:cxnLst/>
            <a:rect l="l" t="t" r="r" b="b"/>
            <a:pathLst>
              <a:path h="489387">
                <a:moveTo>
                  <a:pt x="0" y="489387"/>
                </a:moveTo>
                <a:lnTo>
                  <a:pt x="0" y="0"/>
                </a:lnTo>
              </a:path>
            </a:pathLst>
          </a:custGeom>
          <a:noFill/>
          <a:ln w="21431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2047342" y="2537917"/>
            <a:ext cx="894100" cy="30010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208069" y="2537917"/>
            <a:ext cx="894100" cy="30010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237671" y="2537917"/>
            <a:ext cx="894100" cy="30010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</a:t>
            </a:r>
            <a:endParaRPr lang="en-US" sz="15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91718" y="2203430"/>
            <a:ext cx="1666311" cy="34646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791718" y="2203430"/>
            <a:ext cx="1666311" cy="346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3741085" y="2906786"/>
            <a:ext cx="1666311" cy="34646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 rot="10800000">
            <a:off x="3741085" y="2906786"/>
            <a:ext cx="1666311" cy="346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1237732" y="3563142"/>
            <a:ext cx="2464399" cy="9037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interact via chat-bot post report generation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3419947" y="908914"/>
            <a:ext cx="2464399" cy="9037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425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 answers queries on non-compliance reasons and found issues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5452293" y="3563142"/>
            <a:ext cx="2464399" cy="9037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structured compliance report for natural answers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Handling Updates &amp; New Rules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7360" y="2164659"/>
            <a:ext cx="3314060" cy="1831269"/>
          </a:xfrm>
          <a:custGeom>
            <a:avLst/>
            <a:gdLst/>
            <a:ahLst/>
            <a:cxnLst/>
            <a:rect l="l" t="t" r="r" b="b"/>
            <a:pathLst>
              <a:path w="3314060" h="1831269">
                <a:moveTo>
                  <a:pt x="0" y="1831269"/>
                </a:moveTo>
                <a:lnTo>
                  <a:pt x="3314060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147286" y="3304002"/>
            <a:ext cx="799368" cy="0"/>
          </a:xfrm>
          <a:custGeom>
            <a:avLst/>
            <a:gdLst/>
            <a:ahLst/>
            <a:cxnLst/>
            <a:rect l="l" t="t" r="r" b="b"/>
            <a:pathLst>
              <a:path w="799368">
                <a:moveTo>
                  <a:pt x="0" y="0"/>
                </a:moveTo>
                <a:lnTo>
                  <a:pt x="799368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46504" y="3991082"/>
            <a:ext cx="1745132" cy="0"/>
          </a:xfrm>
          <a:custGeom>
            <a:avLst/>
            <a:gdLst/>
            <a:ahLst/>
            <a:cxnLst/>
            <a:rect l="l" t="t" r="r" b="b"/>
            <a:pathLst>
              <a:path w="1745132">
                <a:moveTo>
                  <a:pt x="0" y="0"/>
                </a:moveTo>
                <a:lnTo>
                  <a:pt x="1745132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98453" y="2718786"/>
            <a:ext cx="1600749" cy="0"/>
          </a:xfrm>
          <a:custGeom>
            <a:avLst/>
            <a:gdLst/>
            <a:ahLst/>
            <a:cxnLst/>
            <a:rect l="l" t="t" r="r" b="b"/>
            <a:pathLst>
              <a:path w="1600749">
                <a:moveTo>
                  <a:pt x="0" y="0"/>
                </a:moveTo>
                <a:lnTo>
                  <a:pt x="1600749" y="0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426555" y="3673602"/>
            <a:ext cx="634868" cy="634868"/>
          </a:xfrm>
          <a:custGeom>
            <a:avLst/>
            <a:gdLst/>
            <a:ahLst/>
            <a:cxnLst/>
            <a:rect l="l" t="t" r="r" b="b"/>
            <a:pathLst>
              <a:path w="634868" h="634868">
                <a:moveTo>
                  <a:pt x="317434" y="0"/>
                </a:moveTo>
                <a:cubicBezTo>
                  <a:pt x="492631" y="0"/>
                  <a:pt x="634868" y="142237"/>
                  <a:pt x="634868" y="317434"/>
                </a:cubicBezTo>
                <a:cubicBezTo>
                  <a:pt x="634868" y="492631"/>
                  <a:pt x="492631" y="634868"/>
                  <a:pt x="317434" y="634868"/>
                </a:cubicBezTo>
                <a:cubicBezTo>
                  <a:pt x="142237" y="634868"/>
                  <a:pt x="0" y="492631"/>
                  <a:pt x="0" y="317434"/>
                </a:cubicBezTo>
                <a:cubicBezTo>
                  <a:pt x="0" y="142237"/>
                  <a:pt x="142237" y="0"/>
                  <a:pt x="317434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26555" y="3673602"/>
            <a:ext cx="634868" cy="6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651486" y="2951683"/>
            <a:ext cx="634868" cy="634868"/>
          </a:xfrm>
          <a:custGeom>
            <a:avLst/>
            <a:gdLst/>
            <a:ahLst/>
            <a:cxnLst/>
            <a:rect l="l" t="t" r="r" b="b"/>
            <a:pathLst>
              <a:path w="634868" h="634868">
                <a:moveTo>
                  <a:pt x="317434" y="0"/>
                </a:moveTo>
                <a:cubicBezTo>
                  <a:pt x="492631" y="0"/>
                  <a:pt x="634868" y="142237"/>
                  <a:pt x="634868" y="317434"/>
                </a:cubicBezTo>
                <a:cubicBezTo>
                  <a:pt x="634868" y="492631"/>
                  <a:pt x="492631" y="634868"/>
                  <a:pt x="317434" y="634868"/>
                </a:cubicBezTo>
                <a:cubicBezTo>
                  <a:pt x="142237" y="634868"/>
                  <a:pt x="0" y="492631"/>
                  <a:pt x="0" y="317434"/>
                </a:cubicBezTo>
                <a:cubicBezTo>
                  <a:pt x="0" y="142237"/>
                  <a:pt x="142237" y="0"/>
                  <a:pt x="317434" y="0"/>
                </a:cubic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666666"/>
              </a:gs>
            </a:gsLst>
            <a:lin ang="9600000" scaled="1"/>
          </a:gradFill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51486" y="2951683"/>
            <a:ext cx="634868" cy="6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33333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37849" y="2321113"/>
            <a:ext cx="634868" cy="634868"/>
          </a:xfrm>
          <a:custGeom>
            <a:avLst/>
            <a:gdLst/>
            <a:ahLst/>
            <a:cxnLst/>
            <a:rect l="l" t="t" r="r" b="b"/>
            <a:pathLst>
              <a:path w="634868" h="634868">
                <a:moveTo>
                  <a:pt x="317434" y="0"/>
                </a:moveTo>
                <a:cubicBezTo>
                  <a:pt x="492631" y="0"/>
                  <a:pt x="634868" y="142237"/>
                  <a:pt x="634868" y="317434"/>
                </a:cubicBezTo>
                <a:cubicBezTo>
                  <a:pt x="634868" y="492631"/>
                  <a:pt x="492631" y="634868"/>
                  <a:pt x="317434" y="634868"/>
                </a:cubicBezTo>
                <a:cubicBezTo>
                  <a:pt x="142237" y="634868"/>
                  <a:pt x="0" y="492631"/>
                  <a:pt x="0" y="317434"/>
                </a:cubicBezTo>
                <a:cubicBezTo>
                  <a:pt x="0" y="142237"/>
                  <a:pt x="142237" y="0"/>
                  <a:pt x="317434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37849" y="2321113"/>
            <a:ext cx="634868" cy="6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147286" y="2951683"/>
            <a:ext cx="0" cy="352318"/>
          </a:xfrm>
          <a:custGeom>
            <a:avLst/>
            <a:gdLst/>
            <a:ahLst/>
            <a:cxnLst/>
            <a:rect l="l" t="t" r="r" b="b"/>
            <a:pathLst>
              <a:path h="352318">
                <a:moveTo>
                  <a:pt x="0" y="0"/>
                </a:moveTo>
                <a:lnTo>
                  <a:pt x="0" y="352318"/>
                </a:lnTo>
              </a:path>
            </a:pathLst>
          </a:custGeom>
          <a:noFill/>
          <a:ln w="14288">
            <a:solidFill>
              <a:srgbClr val="A6A6A6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77747" y="1673809"/>
            <a:ext cx="1936425" cy="117463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new txt rule files to Blob Storage for automatic ingestion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555712" y="2547061"/>
            <a:ext cx="2422428" cy="97374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Indexer updates Cognitive Search index with new rules automatically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564788" y="3809939"/>
            <a:ext cx="2869387" cy="7069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new txt rule files to Blob Storage for automatic ingestion</a:t>
            </a:r>
            <a:endParaRPr lang="en-US" sz="15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900000">
            <a:off x="5060381" y="922630"/>
            <a:ext cx="1298265" cy="1573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535" y="-33010"/>
            <a:ext cx="9173535" cy="5176510"/>
          </a:xfrm>
          <a:custGeom>
            <a:avLst/>
            <a:gdLst/>
            <a:ahLst/>
            <a:cxnLst/>
            <a:rect l="l" t="t" r="r" b="b"/>
            <a:pathLst>
              <a:path w="9173535" h="5176510">
                <a:moveTo>
                  <a:pt x="0" y="0"/>
                </a:moveTo>
                <a:lnTo>
                  <a:pt x="9173535" y="0"/>
                </a:lnTo>
                <a:lnTo>
                  <a:pt x="9173535" y="5176510"/>
                </a:lnTo>
                <a:lnTo>
                  <a:pt x="0" y="5176510"/>
                </a:ln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29535" y="-33010"/>
            <a:ext cx="9173535" cy="517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Benefits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V="1">
            <a:off x="3871478" y="4725528"/>
            <a:ext cx="1401135" cy="299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3229" y="1853214"/>
            <a:ext cx="3348076" cy="685800"/>
          </a:xfrm>
          <a:custGeom>
            <a:avLst/>
            <a:gdLst/>
            <a:ahLst/>
            <a:cxnLst/>
            <a:rect l="l" t="t" r="r" b="b"/>
            <a:pathLst>
              <a:path w="3348076" h="685800">
                <a:moveTo>
                  <a:pt x="85725" y="0"/>
                </a:moveTo>
                <a:lnTo>
                  <a:pt x="3262351" y="0"/>
                </a:lnTo>
                <a:quadBezTo>
                  <a:pt x="3348076" y="0"/>
                  <a:pt x="3348076" y="85725"/>
                </a:quadBezTo>
                <a:lnTo>
                  <a:pt x="3348076" y="600075"/>
                </a:lnTo>
                <a:quadBezTo>
                  <a:pt x="3348076" y="685800"/>
                  <a:pt x="3262351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3229" y="1853214"/>
            <a:ext cx="3348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3229" y="185321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quadBezTo>
                  <a:pt x="685800" y="0"/>
                  <a:pt x="685800" y="85725"/>
                </a:quadBezTo>
                <a:lnTo>
                  <a:pt x="685800" y="600075"/>
                </a:lnTo>
                <a:quadBezTo>
                  <a:pt x="685800" y="685800"/>
                  <a:pt x="600075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3D3D3D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3229" y="185321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706453" y="1870497"/>
            <a:ext cx="2457084" cy="559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Modular, scalable agents allow easy extension and integration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3229" y="2928366"/>
            <a:ext cx="3348076" cy="685800"/>
          </a:xfrm>
          <a:custGeom>
            <a:avLst/>
            <a:gdLst/>
            <a:ahLst/>
            <a:cxnLst/>
            <a:rect l="l" t="t" r="r" b="b"/>
            <a:pathLst>
              <a:path w="3348076" h="685800">
                <a:moveTo>
                  <a:pt x="85725" y="0"/>
                </a:moveTo>
                <a:lnTo>
                  <a:pt x="3262351" y="0"/>
                </a:lnTo>
                <a:quadBezTo>
                  <a:pt x="3348076" y="0"/>
                  <a:pt x="3348076" y="85725"/>
                </a:quadBezTo>
                <a:lnTo>
                  <a:pt x="3348076" y="600075"/>
                </a:lnTo>
                <a:quadBezTo>
                  <a:pt x="3348076" y="685800"/>
                  <a:pt x="3262351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3229" y="2928366"/>
            <a:ext cx="3348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63229" y="292836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quadBezTo>
                  <a:pt x="685800" y="0"/>
                  <a:pt x="685800" y="85725"/>
                </a:quadBezTo>
                <a:lnTo>
                  <a:pt x="685800" y="600075"/>
                </a:lnTo>
                <a:quadBezTo>
                  <a:pt x="685800" y="685800"/>
                  <a:pt x="600075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3D3D3D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3229" y="292836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06453" y="2945648"/>
            <a:ext cx="2516246" cy="559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RAG-driven approach combines semantic search with AI for accuracy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832787" y="1853214"/>
            <a:ext cx="3348076" cy="685800"/>
          </a:xfrm>
          <a:custGeom>
            <a:avLst/>
            <a:gdLst/>
            <a:ahLst/>
            <a:cxnLst/>
            <a:rect l="l" t="t" r="r" b="b"/>
            <a:pathLst>
              <a:path w="3348076" h="685800">
                <a:moveTo>
                  <a:pt x="85725" y="0"/>
                </a:moveTo>
                <a:lnTo>
                  <a:pt x="3262351" y="0"/>
                </a:lnTo>
                <a:quadBezTo>
                  <a:pt x="3348076" y="0"/>
                  <a:pt x="3348076" y="85725"/>
                </a:quadBezTo>
                <a:lnTo>
                  <a:pt x="3348076" y="600075"/>
                </a:lnTo>
                <a:quadBezTo>
                  <a:pt x="3348076" y="685800"/>
                  <a:pt x="3262351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32787" y="1853214"/>
            <a:ext cx="3348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32787" y="185321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quadBezTo>
                  <a:pt x="685800" y="0"/>
                  <a:pt x="685800" y="85725"/>
                </a:quadBezTo>
                <a:lnTo>
                  <a:pt x="685800" y="600075"/>
                </a:lnTo>
                <a:quadBezTo>
                  <a:pt x="685800" y="685800"/>
                  <a:pt x="600075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3D3D3D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32787" y="185321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576011" y="1870497"/>
            <a:ext cx="2514234" cy="559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Explainable by extensive logging of agent activities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832787" y="2928366"/>
            <a:ext cx="3348076" cy="685800"/>
          </a:xfrm>
          <a:custGeom>
            <a:avLst/>
            <a:gdLst/>
            <a:ahLst/>
            <a:cxnLst/>
            <a:rect l="l" t="t" r="r" b="b"/>
            <a:pathLst>
              <a:path w="3348076" h="685800">
                <a:moveTo>
                  <a:pt x="85725" y="0"/>
                </a:moveTo>
                <a:lnTo>
                  <a:pt x="3262351" y="0"/>
                </a:lnTo>
                <a:quadBezTo>
                  <a:pt x="3348076" y="0"/>
                  <a:pt x="3348076" y="85725"/>
                </a:quadBezTo>
                <a:lnTo>
                  <a:pt x="3348076" y="600075"/>
                </a:lnTo>
                <a:quadBezTo>
                  <a:pt x="3348076" y="685800"/>
                  <a:pt x="3262351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32787" y="2928366"/>
            <a:ext cx="3348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832787" y="292836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quadBezTo>
                  <a:pt x="685800" y="0"/>
                  <a:pt x="685800" y="85725"/>
                </a:quadBezTo>
                <a:lnTo>
                  <a:pt x="685800" y="600075"/>
                </a:lnTo>
                <a:quadBezTo>
                  <a:pt x="685800" y="685800"/>
                  <a:pt x="600075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gradFill flip="none" rotWithShape="0">
            <a:gsLst>
              <a:gs pos="0">
                <a:srgbClr val="000000"/>
              </a:gs>
              <a:gs pos="100000">
                <a:srgbClr val="3D3D3D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32787" y="292836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576011" y="2945648"/>
            <a:ext cx="2544867" cy="559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125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rule conversion from txt to JSON enhances retrieval</a:t>
            </a:r>
            <a:endParaRPr lang="en-US" sz="15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15385" y="1981779"/>
            <a:ext cx="431963" cy="431963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62540" y="1981779"/>
            <a:ext cx="431963" cy="431963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15385" y="3056931"/>
            <a:ext cx="431963" cy="431963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962540" y="3056931"/>
            <a:ext cx="431963" cy="431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293236" y="159106"/>
            <a:ext cx="6557437" cy="4989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System Output</a:t>
            </a:r>
            <a:endParaRPr lang="en-US" sz="1500" dirty="0"/>
          </a:p>
        </p:txBody>
      </p:sp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487EFAF-38AD-F57E-EFCC-D5907E27B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76" y="591129"/>
            <a:ext cx="8487472" cy="45523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cb9909e-a632-4cc5-be2e-ce284d9ed345}" enabled="1" method="Standard" siteId="{90254b37-ddd6-4784-a73c-67a28484e42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302</Words>
  <Application>Microsoft Office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Revent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Revent AI Presentation</dc:title>
  <dc:subject>Revent AI Presentation</dc:subject>
  <dc:creator>Revent AI</dc:creator>
  <cp:lastModifiedBy>Sai Ram Reddy, Arumalla (ACCENTURE)</cp:lastModifiedBy>
  <cp:revision>4</cp:revision>
  <dcterms:created xsi:type="dcterms:W3CDTF">2025-12-23T11:23:28Z</dcterms:created>
  <dcterms:modified xsi:type="dcterms:W3CDTF">2025-12-23T11:35:46Z</dcterms:modified>
</cp:coreProperties>
</file>